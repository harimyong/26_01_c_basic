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24384000" cy="13716000"/>
  <p:notesSz cx="6858000" cy="9144000"/>
  <p:embeddedFontLst>
    <p:embeddedFont>
      <p:font typeface="paybooc Medium"/>
      <p:bold r:id="rId25"/>
    </p:embeddedFont>
    <p:embeddedFont>
      <p:font typeface="paybooc ExtraBold"/>
      <p:bold r:id="rId26"/>
    </p:embeddedFont>
    <p:embeddedFont>
      <p:font typeface="paybooc Bold"/>
      <p:bold r:id="rId27"/>
    </p:embeddedFont>
    <p:embeddedFont>
      <p:font typeface="Noto Sans CJK KR DemiLight"/>
      <p:regular r:id="rId28"/>
    </p:embeddedFont>
    <p:embeddedFont>
      <p:font typeface="Pretendard Regular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1.fntdata" Type="http://schemas.openxmlformats.org/officeDocument/2006/relationships/font"/><Relationship Id="rId26" Target="fonts/font2.fntdata" Type="http://schemas.openxmlformats.org/officeDocument/2006/relationships/font"/><Relationship Id="rId27" Target="fonts/font3.fntdata" Type="http://schemas.openxmlformats.org/officeDocument/2006/relationships/font"/><Relationship Id="rId28" Target="fonts/font4.fntdata" Type="http://schemas.openxmlformats.org/officeDocument/2006/relationships/font"/><Relationship Id="rId29" Target="fonts/font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2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2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3.png" Type="http://schemas.openxmlformats.org/officeDocument/2006/relationships/image"/><Relationship Id="rId5" Target="../media/image2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3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2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3.png" Type="http://schemas.openxmlformats.org/officeDocument/2006/relationships/image"/><Relationship Id="rId5" Target="../media/image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3.png" Type="http://schemas.openxmlformats.org/officeDocument/2006/relationships/image"/><Relationship Id="rId5" Target="../media/image2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2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F4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3162300" y="4902200"/>
            <a:ext cx="18059400" cy="3594100"/>
          </a:xfrm>
          <a:prstGeom prst="rect">
            <a:avLst/>
          </a:prstGeom>
        </p:spPr>
        <p:txBody>
          <a:bodyPr anchor="t" rtlCol="false" lIns="0" tIns="77046" rIns="0" bIns="0"/>
          <a:lstStyle/>
          <a:p>
            <a:pPr algn="ctr" lvl="0">
              <a:lnSpc>
                <a:spcPct val="107899"/>
              </a:lnSpc>
            </a:pPr>
            <a:r>
              <a:rPr lang="en-US" sz="12133" b="false" i="false" u="none" strike="noStrike">
                <a:solidFill>
                  <a:srgbClr val="90A4A5"/>
                </a:solidFill>
                <a:latin typeface="paybooc Medium"/>
                <a:ea typeface="paybooc Medium"/>
                <a:cs typeface="paybooc Medium"/>
              </a:rPr>
              <a:t>0&amp;1 C 기초반 4주차</a:t>
            </a:r>
          </a:p>
          <a:p>
            <a:pPr algn="ctr" lvl="0">
              <a:lnSpc>
                <a:spcPct val="107899"/>
              </a:lnSpc>
            </a:pPr>
            <a:r>
              <a:rPr lang="en-US" sz="8800" b="false" i="false" u="none" strike="noStrike">
                <a:solidFill>
                  <a:srgbClr val="373737"/>
                </a:solidFill>
                <a:latin typeface="paybooc Medium"/>
                <a:ea typeface="paybooc Medium"/>
                <a:cs typeface="paybooc Medium"/>
              </a:rPr>
              <a:t>함수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F4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84400" y="5054600"/>
            <a:ext cx="9664700" cy="23241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822700" y="6045200"/>
            <a:ext cx="7023100" cy="520700"/>
          </a:xfrm>
          <a:prstGeom prst="rect">
            <a:avLst/>
          </a:prstGeom>
        </p:spPr>
        <p:txBody>
          <a:bodyPr anchor="t" rtlCol="false" lIns="0" tIns="37161" rIns="0" bIns="0"/>
          <a:lstStyle/>
          <a:p>
            <a:pPr algn="ctr" lvl="0">
              <a:lnSpc>
                <a:spcPct val="99600"/>
              </a:lnSpc>
            </a:pPr>
            <a:r>
              <a:rPr lang="en-US" sz="2926" b="false" i="false" u="none" strike="noStrike" spc="-100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함수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16200" y="5943600"/>
            <a:ext cx="1143000" cy="647700"/>
          </a:xfrm>
          <a:prstGeom prst="rect">
            <a:avLst/>
          </a:prstGeom>
        </p:spPr>
        <p:txBody>
          <a:bodyPr anchor="t" rtlCol="false" lIns="0" tIns="46010" rIns="0" bIns="0"/>
          <a:lstStyle/>
          <a:p>
            <a:pPr algn="ctr" lvl="0">
              <a:lnSpc>
                <a:spcPct val="99600"/>
              </a:lnSpc>
            </a:pPr>
            <a:r>
              <a:rPr lang="en-US" sz="3622" b="false" i="false" u="none" strike="noStrike">
                <a:solidFill>
                  <a:srgbClr val="90A4A5"/>
                </a:solidFill>
                <a:latin typeface="paybooc ExtraBold"/>
                <a:ea typeface="paybooc ExtraBold"/>
                <a:cs typeface="paybooc Extra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85100" y="2527300"/>
            <a:ext cx="8813800" cy="1181100"/>
          </a:xfrm>
          <a:prstGeom prst="rect">
            <a:avLst/>
          </a:prstGeom>
        </p:spPr>
        <p:txBody>
          <a:bodyPr anchor="t" rtlCol="false" lIns="0" tIns="84667" rIns="0" bIns="0"/>
          <a:lstStyle/>
          <a:p>
            <a:pPr algn="ctr" lvl="0">
              <a:lnSpc>
                <a:spcPct val="99600"/>
              </a:lnSpc>
            </a:pPr>
            <a:r>
              <a:rPr lang="en-US" sz="6666" b="false" i="false" u="none" strike="noStrike" cap="all">
                <a:solidFill>
                  <a:srgbClr val="373737"/>
                </a:solidFill>
                <a:latin typeface="paybooc ExtraBold"/>
                <a:ea typeface="paybooc ExtraBold"/>
                <a:cs typeface="paybooc ExtraBold"/>
              </a:rPr>
              <a:t>contents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649200" y="8331200"/>
            <a:ext cx="9664700" cy="23241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3068300" y="9232900"/>
            <a:ext cx="1143000" cy="647700"/>
          </a:xfrm>
          <a:prstGeom prst="rect">
            <a:avLst/>
          </a:prstGeom>
        </p:spPr>
        <p:txBody>
          <a:bodyPr anchor="t" rtlCol="false" lIns="0" tIns="46010" rIns="0" bIns="0"/>
          <a:lstStyle/>
          <a:p>
            <a:pPr algn="ctr" lvl="0">
              <a:lnSpc>
                <a:spcPct val="99600"/>
              </a:lnSpc>
            </a:pPr>
            <a:r>
              <a:rPr lang="en-US" sz="3622" b="false" i="false" u="none" strike="noStrike">
                <a:solidFill>
                  <a:srgbClr val="90A4A5"/>
                </a:solidFill>
                <a:latin typeface="paybooc ExtraBold"/>
                <a:ea typeface="paybooc ExtraBold"/>
                <a:cs typeface="paybooc ExtraBold"/>
              </a:rPr>
              <a:t>04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84400" y="8331200"/>
            <a:ext cx="9664700" cy="23241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628900" y="9144000"/>
            <a:ext cx="1143000" cy="647700"/>
          </a:xfrm>
          <a:prstGeom prst="rect">
            <a:avLst/>
          </a:prstGeom>
        </p:spPr>
        <p:txBody>
          <a:bodyPr anchor="t" rtlCol="false" lIns="0" tIns="46011" rIns="0" bIns="0"/>
          <a:lstStyle/>
          <a:p>
            <a:pPr algn="ctr" lvl="0">
              <a:lnSpc>
                <a:spcPct val="99600"/>
              </a:lnSpc>
            </a:pPr>
            <a:r>
              <a:rPr lang="en-US" sz="3622" b="false" i="false" u="none" strike="noStrike">
                <a:solidFill>
                  <a:srgbClr val="90A4A5"/>
                </a:solidFill>
                <a:latin typeface="paybooc ExtraBold"/>
                <a:ea typeface="paybooc ExtraBold"/>
                <a:cs typeface="paybooc ExtraBold"/>
              </a:rPr>
              <a:t>03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649200" y="5054600"/>
            <a:ext cx="9664700" cy="23241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3081000" y="5943600"/>
            <a:ext cx="1143000" cy="647700"/>
          </a:xfrm>
          <a:prstGeom prst="rect">
            <a:avLst/>
          </a:prstGeom>
        </p:spPr>
        <p:txBody>
          <a:bodyPr anchor="t" rtlCol="false" lIns="0" tIns="46010" rIns="0" bIns="0"/>
          <a:lstStyle/>
          <a:p>
            <a:pPr algn="ctr" lvl="0">
              <a:lnSpc>
                <a:spcPct val="99600"/>
              </a:lnSpc>
            </a:pPr>
            <a:r>
              <a:rPr lang="en-US" sz="3622" b="false" i="false" u="none" strike="noStrike">
                <a:solidFill>
                  <a:srgbClr val="90A4A5"/>
                </a:solidFill>
                <a:latin typeface="paybooc ExtraBold"/>
                <a:ea typeface="paybooc ExtraBold"/>
                <a:cs typeface="paybooc Extra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00200" y="6045200"/>
            <a:ext cx="7023100" cy="520700"/>
          </a:xfrm>
          <a:prstGeom prst="rect">
            <a:avLst/>
          </a:prstGeom>
        </p:spPr>
        <p:txBody>
          <a:bodyPr anchor="t" rtlCol="false" lIns="0" tIns="37161" rIns="0" bIns="0"/>
          <a:lstStyle/>
          <a:p>
            <a:pPr algn="ctr" lvl="0">
              <a:lnSpc>
                <a:spcPct val="99600"/>
              </a:lnSpc>
            </a:pPr>
            <a:r>
              <a:rPr lang="en-US" sz="2926" b="false" i="false" u="none" strike="noStrike" spc="-100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지역변수와 전역변수, void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22700" y="9232900"/>
            <a:ext cx="7023100" cy="520700"/>
          </a:xfrm>
          <a:prstGeom prst="rect">
            <a:avLst/>
          </a:prstGeom>
        </p:spPr>
        <p:txBody>
          <a:bodyPr anchor="t" rtlCol="false" lIns="0" tIns="37161" rIns="0" bIns="0"/>
          <a:lstStyle/>
          <a:p>
            <a:pPr algn="ctr" lvl="0">
              <a:lnSpc>
                <a:spcPct val="99600"/>
              </a:lnSpc>
            </a:pPr>
            <a:r>
              <a:rPr lang="en-US" sz="2926" b="false" i="false" u="none" strike="noStrike" spc="-100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재귀함수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00200" y="9334500"/>
            <a:ext cx="7023100" cy="520700"/>
          </a:xfrm>
          <a:prstGeom prst="rect">
            <a:avLst/>
          </a:prstGeom>
        </p:spPr>
        <p:txBody>
          <a:bodyPr anchor="t" rtlCol="false" lIns="0" tIns="37161" rIns="0" bIns="0"/>
          <a:lstStyle/>
          <a:p>
            <a:pPr algn="ctr" lvl="0">
              <a:lnSpc>
                <a:spcPct val="99600"/>
              </a:lnSpc>
            </a:pPr>
            <a:r>
              <a:rPr lang="en-US" sz="2926" b="false" i="false" u="none" strike="noStrike" spc="-100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피보나치 수열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F4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55900" y="4508500"/>
            <a:ext cx="5334000" cy="5676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81300" y="10172700"/>
            <a:ext cx="50292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88400" y="6083300"/>
            <a:ext cx="128016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788400" y="7137400"/>
            <a:ext cx="12750800" cy="2463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700000">
            <a:off x="9067800" y="7747000"/>
            <a:ext cx="292100" cy="25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700000">
            <a:off x="9067800" y="8826500"/>
            <a:ext cx="292100" cy="25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9575800" y="7493000"/>
            <a:ext cx="12065000" cy="5080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</a:rPr>
              <a:t>반복되는 코드는 함수로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75800" y="8559800"/>
            <a:ext cx="12065000" cy="5080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</a:rPr>
              <a:t>매개변수? 반환값?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34500" y="4711700"/>
            <a:ext cx="122555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함수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43200" y="5994400"/>
            <a:ext cx="5359400" cy="3606800"/>
          </a:xfrm>
          <a:prstGeom prst="rect">
            <a:avLst/>
          </a:prstGeom>
        </p:spPr>
        <p:txBody>
          <a:bodyPr anchor="t" rtlCol="false" lIns="0" tIns="234075" rIns="0" bIns="0"/>
          <a:lstStyle/>
          <a:p>
            <a:pPr algn="ctr" lvl="0">
              <a:lnSpc>
                <a:spcPct val="99600"/>
              </a:lnSpc>
            </a:pPr>
            <a:r>
              <a:rPr lang="en-US" sz="18431" b="false" i="false" u="none" strike="noStrike">
                <a:solidFill>
                  <a:srgbClr val="90A4A5"/>
                </a:solidFill>
                <a:latin typeface="paybooc ExtraBold"/>
                <a:ea typeface="paybooc ExtraBold"/>
                <a:cs typeface="paybooc Extra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17900" y="5334000"/>
            <a:ext cx="3810000" cy="431800"/>
          </a:xfrm>
          <a:prstGeom prst="rect">
            <a:avLst/>
          </a:prstGeom>
        </p:spPr>
        <p:txBody>
          <a:bodyPr anchor="t" rtlCol="false" lIns="0" tIns="3048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 cap="all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chapter.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2DFD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889500" y="2082800"/>
            <a:ext cx="15798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함수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44700" y="2159000"/>
            <a:ext cx="1117600" cy="990600"/>
          </a:xfrm>
          <a:prstGeom prst="rect">
            <a:avLst/>
          </a:prstGeom>
        </p:spPr>
        <p:txBody>
          <a:bodyPr anchor="t" rtlCol="false" lIns="0" tIns="64347" rIns="0" bIns="0"/>
          <a:lstStyle/>
          <a:p>
            <a:pPr algn="ctr" lvl="0">
              <a:lnSpc>
                <a:spcPct val="99600"/>
              </a:lnSpc>
            </a:pPr>
            <a:r>
              <a:rPr lang="en-US" sz="5066" b="false" i="false" u="none" strike="noStrike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40000" y="5207000"/>
            <a:ext cx="9766300" cy="580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029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함수는 특정한 작업을 수행하기 위해 독립적으로 설계된 코드의 집합이다. 반복되는 코드를 하나로 묶어 필요할 때마다 호출하여 사용할 수 있게 함으로써 코드의 가독성을 높이고 유지보수를 편리하게 만든다. </a:t>
            </a:r>
          </a:p>
          <a:p>
            <a:pPr algn="l" lvl="0">
              <a:lnSpc>
                <a:spcPct val="141100"/>
              </a:lnSpc>
            </a:pPr>
            <a:r>
              <a:rPr lang="en-US" sz="3029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3029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함수는 입력값인 "매개변수"를 받아 처리를 수행한 뒤, 결과값인 "반환값"을 돌려주는 구조를 가진다. C언어에서는 main 함수 역시 하나의 함수이며, 사용자가 직접 만드는 '사용자 정의 함수'를 통해 프로그램의 논리적인 구조를 완성한다.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420600" y="5422900"/>
            <a:ext cx="10477500" cy="5245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2DFD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889500" y="2082800"/>
            <a:ext cx="15798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함수의 구조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44700" y="2159000"/>
            <a:ext cx="1117600" cy="990600"/>
          </a:xfrm>
          <a:prstGeom prst="rect">
            <a:avLst/>
          </a:prstGeom>
        </p:spPr>
        <p:txBody>
          <a:bodyPr anchor="t" rtlCol="false" lIns="0" tIns="64347" rIns="0" bIns="0"/>
          <a:lstStyle/>
          <a:p>
            <a:pPr algn="ctr" lvl="0">
              <a:lnSpc>
                <a:spcPct val="99600"/>
              </a:lnSpc>
            </a:pPr>
            <a:r>
              <a:rPr lang="en-US" sz="5066" b="false" i="false" u="none" strike="noStrike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</a:rPr>
              <a:t>01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073400" y="4978400"/>
            <a:ext cx="8051800" cy="6045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671300" y="4978400"/>
            <a:ext cx="10096500" cy="604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2DFD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889500" y="2082800"/>
            <a:ext cx="15798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함수 사용 예시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44700" y="2159000"/>
            <a:ext cx="1117600" cy="990600"/>
          </a:xfrm>
          <a:prstGeom prst="rect">
            <a:avLst/>
          </a:prstGeom>
        </p:spPr>
        <p:txBody>
          <a:bodyPr anchor="t" rtlCol="false" lIns="0" tIns="64347" rIns="0" bIns="0"/>
          <a:lstStyle/>
          <a:p>
            <a:pPr algn="ctr" lvl="0">
              <a:lnSpc>
                <a:spcPct val="99600"/>
              </a:lnSpc>
            </a:pPr>
            <a:r>
              <a:rPr lang="en-US" sz="5066" b="false" i="false" u="none" strike="noStrike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</a:rPr>
              <a:t>01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02000" y="4318000"/>
            <a:ext cx="8890000" cy="7518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30200" y="6858000"/>
            <a:ext cx="5308600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F4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55900" y="4508500"/>
            <a:ext cx="5334000" cy="5676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81300" y="10172700"/>
            <a:ext cx="50292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88400" y="6083300"/>
            <a:ext cx="128016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788400" y="7137400"/>
            <a:ext cx="12750800" cy="2463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700000">
            <a:off x="9067800" y="7747000"/>
            <a:ext cx="292100" cy="25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700000">
            <a:off x="9067800" y="8826500"/>
            <a:ext cx="292100" cy="25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9575800" y="7493000"/>
            <a:ext cx="12065000" cy="5080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</a:rPr>
              <a:t>변수의 유효한 범위(Scope)에 따라 지역과 전역으로 나뉩니다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75800" y="8559800"/>
            <a:ext cx="12179300" cy="5080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</a:rPr>
              <a:t>아무것도 전달하고 싶지 않을 때, 아무것도 반환하고 싶지 않을 때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34500" y="4711700"/>
            <a:ext cx="122555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지역변수와 전역변수, void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43200" y="5994400"/>
            <a:ext cx="5359400" cy="3276600"/>
          </a:xfrm>
          <a:prstGeom prst="rect">
            <a:avLst/>
          </a:prstGeom>
        </p:spPr>
        <p:txBody>
          <a:bodyPr anchor="t" rtlCol="false" lIns="0" tIns="234075" rIns="0" bIns="0"/>
          <a:lstStyle/>
          <a:p>
            <a:pPr algn="ctr" lvl="0">
              <a:lnSpc>
                <a:spcPct val="99600"/>
              </a:lnSpc>
            </a:pPr>
            <a:r>
              <a:rPr lang="en-US" sz="18431" b="false" i="false" u="none" strike="noStrike">
                <a:solidFill>
                  <a:srgbClr val="90A4A5"/>
                </a:solidFill>
                <a:latin typeface="paybooc ExtraBold"/>
                <a:ea typeface="paybooc ExtraBold"/>
                <a:cs typeface="paybooc Extra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17900" y="5334000"/>
            <a:ext cx="3810000" cy="431800"/>
          </a:xfrm>
          <a:prstGeom prst="rect">
            <a:avLst/>
          </a:prstGeom>
        </p:spPr>
        <p:txBody>
          <a:bodyPr anchor="t" rtlCol="false" lIns="0" tIns="3048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 cap="all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chapter.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2DFD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889500" y="2082800"/>
            <a:ext cx="15798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지역변수와 전역변수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95500" y="2209800"/>
            <a:ext cx="1117600" cy="901700"/>
          </a:xfrm>
          <a:prstGeom prst="rect">
            <a:avLst/>
          </a:prstGeom>
        </p:spPr>
        <p:txBody>
          <a:bodyPr anchor="t" rtlCol="false" lIns="0" tIns="64347" rIns="0" bIns="0"/>
          <a:lstStyle/>
          <a:p>
            <a:pPr algn="ctr" lvl="0">
              <a:lnSpc>
                <a:spcPct val="99600"/>
              </a:lnSpc>
            </a:pPr>
            <a:r>
              <a:rPr lang="en-US" sz="5066" b="false" i="false" u="none" strike="noStrike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16100" y="3429000"/>
            <a:ext cx="10121900" cy="882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184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변수는 선언되는 위치에 따라 이름이 같은 변수라도 사용 가능한 범위와 메모리에서 유지되는 시간이 달라집니다. </a:t>
            </a:r>
          </a:p>
          <a:p>
            <a:pPr algn="l" lvl="0">
              <a:lnSpc>
                <a:spcPct val="141100"/>
              </a:lnSpc>
            </a:pPr>
            <a:r>
              <a:rPr lang="en-US" sz="3184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3184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지역변수는 함수 내부에서 선언되어 해당 함수 안에서만 사용할 수 있으며, 함수가 종료되면 메모리에서 자동으로 사라집니다. 반면 전역변수는 함수 밖에서 선언되어 프로그램 전체에서 자유롭게 접근이 가능하고, 프로그램이 끝날 때까지 메모리에 남아있습니다. </a:t>
            </a:r>
          </a:p>
          <a:p>
            <a:pPr algn="l" lvl="0">
              <a:lnSpc>
                <a:spcPct val="141100"/>
              </a:lnSpc>
            </a:pPr>
            <a:r>
              <a:rPr lang="en-US" sz="3184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3184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전역변수는 편리하지만, 여러 함수에서 값을 함부로 바꿀 경우 프로그램에 예상치 못한 오류를 일으킬 수 있으므로 꼭 필요한 경우에만 주의해서 사용해야 합니다.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217400" y="3670300"/>
            <a:ext cx="9982200" cy="7378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630400" y="11036300"/>
            <a:ext cx="5486400" cy="1663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2DFD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889500" y="2082800"/>
            <a:ext cx="15798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void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95500" y="2209800"/>
            <a:ext cx="1117600" cy="901700"/>
          </a:xfrm>
          <a:prstGeom prst="rect">
            <a:avLst/>
          </a:prstGeom>
        </p:spPr>
        <p:txBody>
          <a:bodyPr anchor="t" rtlCol="false" lIns="0" tIns="64347" rIns="0" bIns="0"/>
          <a:lstStyle/>
          <a:p>
            <a:pPr algn="ctr" lvl="0">
              <a:lnSpc>
                <a:spcPct val="99600"/>
              </a:lnSpc>
            </a:pPr>
            <a:r>
              <a:rPr lang="en-US" sz="5066" b="false" i="false" u="none" strike="noStrike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41500" y="4165600"/>
            <a:ext cx="10083800" cy="7480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184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void는 "비어있다"는 뜻의 키워드로, 함수에서 크게 두 가지 용도로 사용됩니다. </a:t>
            </a:r>
          </a:p>
          <a:p>
            <a:pPr algn="l" lvl="0">
              <a:lnSpc>
                <a:spcPct val="141100"/>
              </a:lnSpc>
            </a:pPr>
            <a:r>
              <a:rPr lang="en-US" sz="3184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3184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첫째, 함수가 모든 작업을 마친 뒤 호출한 곳으로 돌려줄 결과값이 없을 때 반환 자료형 위치에 void를 씁니다. 예를 들어, 단순히 화면에 문장을 출력하고 끝나는 함수가 이에 해당합니다. </a:t>
            </a:r>
          </a:p>
          <a:p>
            <a:pPr algn="l" lvl="0">
              <a:lnSpc>
                <a:spcPct val="141100"/>
              </a:lnSpc>
            </a:pPr>
            <a:r>
              <a:rPr lang="en-US" sz="3184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3184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둘째, 함수가 실행될 때 외부에서 받아올 데이터가 하나도 없다면 매개변수 자리에 void를 써서 "입력값이 없음"을 명시합니다. 즉, void는 함수가 결과물을 내놓지 않거나 입력을 받지 않는다는 것을 컴퓨터에게 알려주는 약속입니다.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976100" y="5461000"/>
            <a:ext cx="1056640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2DFD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889500" y="2082800"/>
            <a:ext cx="15798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void 사용 예시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95500" y="2209800"/>
            <a:ext cx="1117600" cy="901700"/>
          </a:xfrm>
          <a:prstGeom prst="rect">
            <a:avLst/>
          </a:prstGeom>
        </p:spPr>
        <p:txBody>
          <a:bodyPr anchor="t" rtlCol="false" lIns="0" tIns="64347" rIns="0" bIns="0"/>
          <a:lstStyle/>
          <a:p>
            <a:pPr algn="ctr" lvl="0">
              <a:lnSpc>
                <a:spcPct val="99600"/>
              </a:lnSpc>
            </a:pPr>
            <a:r>
              <a:rPr lang="en-US" sz="5066" b="false" i="false" u="none" strike="noStrike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</a:rPr>
              <a:t>02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111500" y="3835400"/>
            <a:ext cx="8712200" cy="7569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915900" y="3835400"/>
            <a:ext cx="8077200" cy="756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F4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55900" y="4508500"/>
            <a:ext cx="5334000" cy="5676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81300" y="10172700"/>
            <a:ext cx="50292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88400" y="6083300"/>
            <a:ext cx="128016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788400" y="7137400"/>
            <a:ext cx="12750800" cy="2463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700000">
            <a:off x="9067800" y="7747000"/>
            <a:ext cx="292100" cy="25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700000">
            <a:off x="9067800" y="8826500"/>
            <a:ext cx="292100" cy="25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9575800" y="7493000"/>
            <a:ext cx="12065000" cy="5080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</a:rPr>
              <a:t>함수에서 함수를...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75800" y="8559800"/>
            <a:ext cx="12065000" cy="5080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</a:rPr>
              <a:t>잘못 정의하면 스택 오버플로우같은 문제 발생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09100" y="4711700"/>
            <a:ext cx="123063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재귀함수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43200" y="5994400"/>
            <a:ext cx="5359400" cy="3276600"/>
          </a:xfrm>
          <a:prstGeom prst="rect">
            <a:avLst/>
          </a:prstGeom>
        </p:spPr>
        <p:txBody>
          <a:bodyPr anchor="t" rtlCol="false" lIns="0" tIns="234075" rIns="0" bIns="0"/>
          <a:lstStyle/>
          <a:p>
            <a:pPr algn="ctr" lvl="0">
              <a:lnSpc>
                <a:spcPct val="99600"/>
              </a:lnSpc>
            </a:pPr>
            <a:r>
              <a:rPr lang="en-US" sz="18431" b="false" i="false" u="none" strike="noStrike">
                <a:solidFill>
                  <a:srgbClr val="90A4A5"/>
                </a:solidFill>
                <a:latin typeface="paybooc ExtraBold"/>
                <a:ea typeface="paybooc ExtraBold"/>
                <a:cs typeface="paybooc Extra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17900" y="5334000"/>
            <a:ext cx="3810000" cy="431800"/>
          </a:xfrm>
          <a:prstGeom prst="rect">
            <a:avLst/>
          </a:prstGeom>
        </p:spPr>
        <p:txBody>
          <a:bodyPr anchor="t" rtlCol="false" lIns="0" tIns="3048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 cap="all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chapter.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2DFD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889500" y="2082800"/>
            <a:ext cx="15798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재귀함수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95500" y="2159000"/>
            <a:ext cx="1016000" cy="901700"/>
          </a:xfrm>
          <a:prstGeom prst="rect">
            <a:avLst/>
          </a:prstGeom>
        </p:spPr>
        <p:txBody>
          <a:bodyPr anchor="t" rtlCol="false" lIns="0" tIns="64347" rIns="0" bIns="0"/>
          <a:lstStyle/>
          <a:p>
            <a:pPr algn="ctr" lvl="0">
              <a:lnSpc>
                <a:spcPct val="99600"/>
              </a:lnSpc>
            </a:pPr>
            <a:r>
              <a:rPr lang="en-US" sz="5066" b="false" i="false" u="none" strike="noStrike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97100" y="4940300"/>
            <a:ext cx="8458200" cy="580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029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재귀함수란 함수 내부에서 자기 자신을 다시 호출하는 형태의 함수를 말한다. 복잡한 문제를 동일한 구조의 더 작은 문제로 쪼개어 해결할 때 유용하며, 마치 거울 속에 거울이 끝없이 비치는 것과 같은 원리다. </a:t>
            </a:r>
          </a:p>
          <a:p>
            <a:pPr algn="l" lvl="0">
              <a:lnSpc>
                <a:spcPct val="141100"/>
              </a:lnSpc>
            </a:pPr>
            <a:r>
              <a:rPr lang="en-US" sz="3029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3029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재귀함수를 설계할 때는 반드시 호출을 멈추는 종료 조건을 명시해야 한다. 만약 종료 조건이 없으면 함수가 무한히 호출되어 메모리가 꽉 차버리는 '스택 오버플로우(Stack Overflow)' 현상이 발생하므로 주의해야 한다.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706100" y="5168900"/>
            <a:ext cx="11836400" cy="5359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2DFD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889500" y="2082800"/>
            <a:ext cx="15798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재귀함수와 스택 메모리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95500" y="2159000"/>
            <a:ext cx="1016000" cy="901700"/>
          </a:xfrm>
          <a:prstGeom prst="rect">
            <a:avLst/>
          </a:prstGeom>
        </p:spPr>
        <p:txBody>
          <a:bodyPr anchor="t" rtlCol="false" lIns="0" tIns="64347" rIns="0" bIns="0"/>
          <a:lstStyle/>
          <a:p>
            <a:pPr algn="ctr" lvl="0">
              <a:lnSpc>
                <a:spcPct val="99600"/>
              </a:lnSpc>
            </a:pPr>
            <a:r>
              <a:rPr lang="en-US" sz="5066" b="false" i="false" u="none" strike="noStrike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33600" y="4610100"/>
            <a:ext cx="8496300" cy="6464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029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재귀함수가 호출될 때마다 컴퓨터 메모리의 스택(Stack) 영역에는 함수의 실행 정보(매개변수, 지역변수 등)가 층층이 쌓이게 됩니다. 이를 스택 프레임이라고 부르며, 함수가 종료 조건을 만나 값을 반환하기 전까지는 이 메모리 공간이 계속 유지됩니다. </a:t>
            </a:r>
          </a:p>
          <a:p>
            <a:pPr algn="l" lvl="0">
              <a:lnSpc>
                <a:spcPct val="141100"/>
              </a:lnSpc>
            </a:pPr>
            <a:r>
              <a:rPr lang="en-US" sz="3029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3029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만약 종료 조건이 설계되지 않았거나 재귀의 깊이가 너무 깊어지면, 제한된 메모리 공간인 스택 영역을 넘치게 되어 프로그램이 강제 종료되는 스택 오버플로우(Stack Overflow) 현상이 발생합니다. 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039600" y="4343400"/>
            <a:ext cx="9626600" cy="7670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2DFD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74700" y="7239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889500" y="2082800"/>
            <a:ext cx="15798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재귀함수 사용 예시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95500" y="2159000"/>
            <a:ext cx="1016000" cy="901700"/>
          </a:xfrm>
          <a:prstGeom prst="rect">
            <a:avLst/>
          </a:prstGeom>
        </p:spPr>
        <p:txBody>
          <a:bodyPr anchor="t" rtlCol="false" lIns="0" tIns="64347" rIns="0" bIns="0"/>
          <a:lstStyle/>
          <a:p>
            <a:pPr algn="ctr" lvl="0">
              <a:lnSpc>
                <a:spcPct val="99600"/>
              </a:lnSpc>
            </a:pPr>
            <a:r>
              <a:rPr lang="en-US" sz="5066" b="false" i="false" u="none" strike="noStrike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</a:rPr>
              <a:t>03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855700" y="4584700"/>
            <a:ext cx="9309100" cy="7315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41500" y="4114800"/>
            <a:ext cx="12014200" cy="8255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F4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55900" y="4508500"/>
            <a:ext cx="5334000" cy="5676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81300" y="10172700"/>
            <a:ext cx="50292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88400" y="6083300"/>
            <a:ext cx="128016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788400" y="7137400"/>
            <a:ext cx="12750800" cy="2463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700000">
            <a:off x="9067800" y="7747000"/>
            <a:ext cx="292100" cy="25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700000">
            <a:off x="9067800" y="8826500"/>
            <a:ext cx="292100" cy="25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9575800" y="7493000"/>
            <a:ext cx="12065000" cy="5080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</a:rPr>
              <a:t>F(n)=F(n-1)+F(n-2)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75800" y="8559800"/>
            <a:ext cx="12179300" cy="5080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</a:rPr>
              <a:t>재귀함수를 가지고 피보나치 수열을 구해보자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34500" y="4711700"/>
            <a:ext cx="122555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피보나치 수열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43200" y="5994400"/>
            <a:ext cx="5359400" cy="3276600"/>
          </a:xfrm>
          <a:prstGeom prst="rect">
            <a:avLst/>
          </a:prstGeom>
        </p:spPr>
        <p:txBody>
          <a:bodyPr anchor="t" rtlCol="false" lIns="0" tIns="234075" rIns="0" bIns="0"/>
          <a:lstStyle/>
          <a:p>
            <a:pPr algn="ctr" lvl="0">
              <a:lnSpc>
                <a:spcPct val="99600"/>
              </a:lnSpc>
            </a:pPr>
            <a:r>
              <a:rPr lang="en-US" sz="18431" b="false" i="false" u="none" strike="noStrike">
                <a:solidFill>
                  <a:srgbClr val="90A4A5"/>
                </a:solidFill>
                <a:latin typeface="paybooc ExtraBold"/>
                <a:ea typeface="paybooc ExtraBold"/>
                <a:cs typeface="paybooc Extra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17900" y="5334000"/>
            <a:ext cx="3810000" cy="431800"/>
          </a:xfrm>
          <a:prstGeom prst="rect">
            <a:avLst/>
          </a:prstGeom>
        </p:spPr>
        <p:txBody>
          <a:bodyPr anchor="t" rtlCol="false" lIns="0" tIns="3048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 cap="all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chapter.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2DFD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889500" y="2082800"/>
            <a:ext cx="15798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피보나치 수열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95500" y="2159000"/>
            <a:ext cx="1016000" cy="901700"/>
          </a:xfrm>
          <a:prstGeom prst="rect">
            <a:avLst/>
          </a:prstGeom>
        </p:spPr>
        <p:txBody>
          <a:bodyPr anchor="t" rtlCol="false" lIns="0" tIns="64347" rIns="0" bIns="0"/>
          <a:lstStyle/>
          <a:p>
            <a:pPr algn="ctr" lvl="0">
              <a:lnSpc>
                <a:spcPct val="99600"/>
              </a:lnSpc>
            </a:pPr>
            <a:r>
              <a:rPr lang="en-US" sz="5066" b="false" i="false" u="none" strike="noStrike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03500" y="4711700"/>
            <a:ext cx="9766300" cy="6464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029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피보나치 수열은 재귀함수의 원리를 이해하기 위한 가장 대표적인 사례로, 앞의 두 항의 합으로 다음 항의 숫자를 만들어 이루어지는 수열이다. </a:t>
            </a:r>
          </a:p>
          <a:p>
            <a:pPr algn="l" lvl="0">
              <a:lnSpc>
                <a:spcPct val="141100"/>
              </a:lnSpc>
            </a:pPr>
            <a:r>
              <a:rPr lang="en-US" sz="3029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피보나치 수열 1, 1, 2, 3, 5, 8, ...  이를 코드로 구현하면</a:t>
            </a:r>
          </a:p>
          <a:p>
            <a:pPr algn="l" lvl="0">
              <a:lnSpc>
                <a:spcPct val="141100"/>
              </a:lnSpc>
            </a:pPr>
            <a:r>
              <a:rPr lang="en-US" sz="3029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f(n) = f(n-1) + f(n-2)라는 식이 만들어진다. (단, f(0)=0, f(1)=1)</a:t>
            </a:r>
          </a:p>
          <a:p>
            <a:pPr algn="l" lvl="0">
              <a:lnSpc>
                <a:spcPct val="141100"/>
              </a:lnSpc>
            </a:pPr>
            <a:r>
              <a:rPr lang="en-US" sz="3029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 </a:t>
            </a:r>
          </a:p>
          <a:p>
            <a:pPr algn="l" lvl="0">
              <a:lnSpc>
                <a:spcPct val="141100"/>
              </a:lnSpc>
            </a:pPr>
            <a:r>
              <a:rPr lang="en-US" sz="3029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직관적이고 아름다운 로직이지만, 숫자가 커질수록 동일한 계산을 반복하기 때문에 효율성을 위해 나중에 배울 '메모이제이션' 방식과 비교하며 학습하는 것이 좋다. 
</a:t>
            </a:r>
            <a:r>
              <a:rPr lang="en-US" sz="2629" b="false" i="false" u="none" strike="noStrike" spc="-1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('메모이제이션' 방식은 알고리즘반 '동적계획법'파트에서 나옵니다.)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268200" y="5041900"/>
            <a:ext cx="10274300" cy="6108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2DFD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889500" y="2082800"/>
            <a:ext cx="15798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연습 문제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95500" y="2209800"/>
            <a:ext cx="1117600" cy="901700"/>
          </a:xfrm>
          <a:prstGeom prst="rect">
            <a:avLst/>
          </a:prstGeom>
        </p:spPr>
        <p:txBody>
          <a:bodyPr anchor="t" rtlCol="false" lIns="0" tIns="64347" rIns="0" bIns="0"/>
          <a:lstStyle/>
          <a:p>
            <a:pPr algn="ctr" lvl="0">
              <a:lnSpc>
                <a:spcPct val="99600"/>
              </a:lnSpc>
            </a:pPr>
            <a:r>
              <a:rPr lang="en-US" sz="5066" b="false" i="false" u="none" strike="noStrike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35500" y="5676900"/>
            <a:ext cx="15113000" cy="372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22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n번째 피보나치 수를 구하는 프로그램을 작성해봅시다!</a:t>
            </a:r>
          </a:p>
          <a:p>
            <a:pPr algn="ctr" lvl="0">
              <a:lnSpc>
                <a:spcPct val="116199"/>
              </a:lnSpc>
            </a:pPr>
            <a:r>
              <a:rPr lang="en-US" sz="522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(단, 피보나치 0번째는 0, 1번째는 1이다.)</a:t>
            </a:r>
          </a:p>
          <a:p>
            <a:pPr algn="ctr" lvl="0">
              <a:lnSpc>
                <a:spcPct val="116199"/>
              </a:lnSpc>
            </a:pPr>
            <a:r>
              <a:rPr lang="en-US" sz="522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입력:  정수 n (5&lt;=n&lt;=40)이 입력된다.</a:t>
            </a:r>
          </a:p>
          <a:p>
            <a:pPr algn="ctr" lvl="0">
              <a:lnSpc>
                <a:spcPct val="116199"/>
              </a:lnSpc>
            </a:pPr>
            <a:r>
              <a:rPr lang="en-US" sz="522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출력 : n번째 피보나치 수를 출력한다.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2DFD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889500" y="2082800"/>
            <a:ext cx="15798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피보나치 수열 재귀 형태 코드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95500" y="2159000"/>
            <a:ext cx="1016000" cy="901700"/>
          </a:xfrm>
          <a:prstGeom prst="rect">
            <a:avLst/>
          </a:prstGeom>
        </p:spPr>
        <p:txBody>
          <a:bodyPr anchor="t" rtlCol="false" lIns="0" tIns="64347" rIns="0" bIns="0"/>
          <a:lstStyle/>
          <a:p>
            <a:pPr algn="ctr" lvl="0">
              <a:lnSpc>
                <a:spcPct val="99600"/>
              </a:lnSpc>
            </a:pPr>
            <a:r>
              <a:rPr lang="en-US" sz="5066" b="false" i="false" u="none" strike="noStrike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</a:rPr>
              <a:t>04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039100" y="3898900"/>
            <a:ext cx="8293100" cy="8166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2DFD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304800"/>
            <a:ext cx="2540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304800"/>
            <a:ext cx="2540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54500" y="304800"/>
            <a:ext cx="2540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83200" y="304800"/>
            <a:ext cx="2540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11900" y="304800"/>
            <a:ext cx="2540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945600" y="304800"/>
            <a:ext cx="254000" cy="825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889500" y="2082800"/>
            <a:ext cx="15798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73737"/>
                </a:solidFill>
                <a:latin typeface="paybooc Bold"/>
                <a:ea typeface="paybooc Bold"/>
                <a:cs typeface="paybooc Bold"/>
              </a:rPr>
              <a:t>다음 시간에는...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95500" y="2133600"/>
            <a:ext cx="1117600" cy="990600"/>
          </a:xfrm>
          <a:prstGeom prst="rect">
            <a:avLst/>
          </a:prstGeom>
        </p:spPr>
        <p:txBody>
          <a:bodyPr anchor="t" rtlCol="false" lIns="0" tIns="64347" rIns="0" bIns="0"/>
          <a:lstStyle/>
          <a:p>
            <a:pPr algn="ctr" lvl="0">
              <a:lnSpc>
                <a:spcPct val="99600"/>
              </a:lnSpc>
            </a:pPr>
            <a:r>
              <a:rPr lang="en-US" sz="5066" b="false" i="false" u="none" strike="noStrike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24100" y="5740400"/>
            <a:ext cx="19735800" cy="312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5066" b="false" i="false" u="none" strike="noStrike" spc="-200">
                <a:solidFill>
                  <a:srgbClr val="000000"/>
                </a:solidFill>
                <a:latin typeface="Noto Sans CJK KR DemiLight"/>
                <a:ea typeface="Noto Sans CJK KR DemiLight"/>
                <a:cs typeface="Noto Sans CJK KR DemiLight"/>
              </a:rPr>
              <a:t>특정 부분의 코드를 반복적으로 실행하는 "반복문"을 공부할 것입니다.
다음 시간에 만나요~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